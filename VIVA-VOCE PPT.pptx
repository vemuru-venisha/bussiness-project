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68" r:id="rId5"/>
    <p:sldId id="258" r:id="rId6"/>
    <p:sldId id="260" r:id="rId7"/>
    <p:sldId id="261" r:id="rId8"/>
    <p:sldId id="262" r:id="rId9"/>
    <p:sldId id="263" r:id="rId10"/>
    <p:sldId id="264" r:id="rId11"/>
  </p:sldIdLst>
  <p:sldSz cx="18288000" cy="10287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DM Sans Italics" panose="020B0604020202020204" charset="0"/>
      <p:regular r:id="rId16"/>
    </p:embeddedFont>
    <p:embeddedFont>
      <p:font typeface="DM Sans Medium" pitchFamily="2" charset="0"/>
      <p:regular r:id="rId17"/>
      <p:italic r:id="rId18"/>
    </p:embeddedFont>
    <p:embeddedFont>
      <p:font typeface="Kollektif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99" autoAdjust="0"/>
    <p:restoredTop sz="94622" autoAdjust="0"/>
  </p:normalViewPr>
  <p:slideViewPr>
    <p:cSldViewPr>
      <p:cViewPr varScale="1">
        <p:scale>
          <a:sx n="52" d="100"/>
          <a:sy n="52" d="100"/>
        </p:scale>
        <p:origin x="77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mailto:23f2003668@ds.study.iitm.ac.in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14131544" y="7969488"/>
            <a:ext cx="5132702" cy="5185216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14444220" y="8329798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flipV="1">
            <a:off x="14802690" y="868111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640556" y="3585630"/>
            <a:ext cx="17674483" cy="142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99"/>
              </a:lnSpc>
            </a:pPr>
            <a:r>
              <a:rPr lang="en-US" sz="6000" dirty="0"/>
              <a:t>Optimizing Beverage Sales:</a:t>
            </a:r>
            <a:br>
              <a:rPr lang="en-US" sz="6000" dirty="0"/>
            </a:br>
            <a:r>
              <a:rPr lang="en-US" sz="6000" dirty="0"/>
              <a:t>Placing the Right Beverage in the Right Market</a:t>
            </a:r>
            <a:endParaRPr lang="en-US" sz="5499" dirty="0">
              <a:solidFill>
                <a:srgbClr val="227C9D"/>
              </a:solidFill>
              <a:latin typeface="Kollektif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584706" y="6025617"/>
            <a:ext cx="9328011" cy="2115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70"/>
              </a:lnSpc>
            </a:pPr>
            <a:endParaRPr lang="en-US" sz="3700" dirty="0">
              <a:solidFill>
                <a:srgbClr val="545454"/>
              </a:solidFill>
              <a:latin typeface="DM Sans"/>
            </a:endParaRPr>
          </a:p>
          <a:p>
            <a:pPr algn="ctr">
              <a:lnSpc>
                <a:spcPts val="4070"/>
              </a:lnSpc>
            </a:pPr>
            <a:r>
              <a:rPr lang="en-US" sz="3700" dirty="0">
                <a:solidFill>
                  <a:srgbClr val="545454"/>
                </a:solidFill>
                <a:latin typeface="DM Sans"/>
              </a:rPr>
              <a:t>VEMURU VENISHA</a:t>
            </a:r>
          </a:p>
          <a:p>
            <a:pPr algn="ctr">
              <a:lnSpc>
                <a:spcPts val="4070"/>
              </a:lnSpc>
            </a:pPr>
            <a:r>
              <a:rPr lang="en-US" sz="3700" dirty="0">
                <a:solidFill>
                  <a:srgbClr val="545454"/>
                </a:solidFill>
                <a:latin typeface="DM Sans Medium"/>
                <a:hlinkClick r:id="rId3"/>
              </a:rPr>
              <a:t>23f2003668@ds.study.iitm.ac.in</a:t>
            </a:r>
            <a:endParaRPr lang="en-US" sz="3700" dirty="0">
              <a:solidFill>
                <a:srgbClr val="545454"/>
              </a:solidFill>
              <a:latin typeface="DM Sans Medium"/>
            </a:endParaRPr>
          </a:p>
          <a:p>
            <a:pPr algn="ctr">
              <a:lnSpc>
                <a:spcPts val="4070"/>
              </a:lnSpc>
            </a:pPr>
            <a:r>
              <a:rPr lang="it-IT" sz="4000" dirty="0"/>
              <a:t>IIT Madras - Data Science &amp; Programming</a:t>
            </a:r>
            <a:endParaRPr lang="en-US" sz="3700" dirty="0">
              <a:solidFill>
                <a:srgbClr val="545454"/>
              </a:solidFill>
              <a:latin typeface="DM Sans Medium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0" y="747073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10800000">
            <a:off x="0" y="85545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083809" y="8554548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0800000">
            <a:off x="1083809" y="9623721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237941" y="9666932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0" y="9638357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5400000">
            <a:off x="15470622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5400000">
            <a:off x="16554431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 flipV="1">
            <a:off x="17638239" y="0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17638239" y="10838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H="1" flipV="1">
            <a:off x="16554431" y="1083809"/>
            <a:ext cx="1083809" cy="1083809"/>
          </a:xfrm>
          <a:custGeom>
            <a:avLst/>
            <a:gdLst/>
            <a:ahLst/>
            <a:cxnLst/>
            <a:rect l="l" t="t" r="r" b="b"/>
            <a:pathLst>
              <a:path w="1083809" h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AutoShape 32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4131544" y="7969488"/>
            <a:ext cx="5132702" cy="5185216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4444220" y="8329798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flipV="1">
            <a:off x="14802690" y="868111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1133475"/>
            <a:ext cx="12044053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solidFill>
                  <a:srgbClr val="227C9D"/>
                </a:solidFill>
                <a:latin typeface="Kollektif Bold"/>
              </a:rPr>
              <a:t>ABOUT THE BUSINESS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378969"/>
            <a:ext cx="9791700" cy="66721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342" lvl="1" indent="-388671" algn="l">
              <a:lnSpc>
                <a:spcPts val="3960"/>
              </a:lnSpc>
              <a:buFont typeface="Arial"/>
              <a:buChar char="•"/>
            </a:pPr>
            <a:r>
              <a:rPr lang="en-US" sz="3600" dirty="0">
                <a:solidFill>
                  <a:srgbClr val="545454"/>
                </a:solidFill>
                <a:latin typeface="DM Sans"/>
              </a:rPr>
              <a:t>A beverage distribution company operating across the United States under a B2B model.</a:t>
            </a:r>
          </a:p>
          <a:p>
            <a:pPr marL="777342" lvl="1" indent="-388671" algn="l">
              <a:lnSpc>
                <a:spcPts val="3960"/>
              </a:lnSpc>
              <a:buFont typeface="Arial"/>
              <a:buChar char="•"/>
            </a:pPr>
            <a:r>
              <a:rPr lang="en-US" sz="3600" dirty="0">
                <a:solidFill>
                  <a:srgbClr val="545454"/>
                </a:solidFill>
                <a:latin typeface="DM Sans"/>
              </a:rPr>
              <a:t>Supplies beverages like Coca Cola, Sprite, Fanta, Diet Coke, Powerade, and Dasani Water.</a:t>
            </a:r>
          </a:p>
          <a:p>
            <a:pPr marL="777342" lvl="1" indent="-388671" algn="l">
              <a:lnSpc>
                <a:spcPts val="3960"/>
              </a:lnSpc>
              <a:buFont typeface="Arial"/>
              <a:buChar char="•"/>
            </a:pPr>
            <a:r>
              <a:rPr lang="en-US" sz="3600" dirty="0">
                <a:solidFill>
                  <a:srgbClr val="545454"/>
                </a:solidFill>
                <a:latin typeface="DM Sans"/>
              </a:rPr>
              <a:t>Sells mainly to large retailers such as </a:t>
            </a:r>
            <a:r>
              <a:rPr lang="en-US" sz="3600" dirty="0" err="1">
                <a:solidFill>
                  <a:srgbClr val="545454"/>
                </a:solidFill>
                <a:latin typeface="DM Sans"/>
              </a:rPr>
              <a:t>BevCo</a:t>
            </a:r>
            <a:r>
              <a:rPr lang="en-US" sz="3600" dirty="0">
                <a:solidFill>
                  <a:srgbClr val="545454"/>
                </a:solidFill>
                <a:latin typeface="DM Sans"/>
              </a:rPr>
              <a:t>, Target, and Walmart.</a:t>
            </a:r>
          </a:p>
          <a:p>
            <a:pPr marL="777342" lvl="1" indent="-388671" algn="l">
              <a:lnSpc>
                <a:spcPts val="3960"/>
              </a:lnSpc>
              <a:buFont typeface="Arial"/>
              <a:buChar char="•"/>
            </a:pPr>
            <a:r>
              <a:rPr lang="en-US" sz="3600" dirty="0">
                <a:solidFill>
                  <a:srgbClr val="545454"/>
                </a:solidFill>
                <a:latin typeface="DM Sans"/>
              </a:rPr>
              <a:t>Operates across multiple U.S. regions with varying sales </a:t>
            </a:r>
            <a:r>
              <a:rPr lang="en-US" sz="3600" dirty="0" err="1">
                <a:solidFill>
                  <a:srgbClr val="545454"/>
                </a:solidFill>
                <a:latin typeface="DM Sans"/>
              </a:rPr>
              <a:t>performance.Focuses</a:t>
            </a:r>
            <a:r>
              <a:rPr lang="en-US" sz="3600" dirty="0">
                <a:solidFill>
                  <a:srgbClr val="545454"/>
                </a:solidFill>
                <a:latin typeface="DM Sans"/>
              </a:rPr>
              <a:t> on improving sales efficiency, marketing strategy, and profitability through data analysis.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056161" y="-2833697"/>
            <a:ext cx="5493058" cy="4114800"/>
          </a:xfrm>
          <a:custGeom>
            <a:avLst/>
            <a:gdLst/>
            <a:ahLst/>
            <a:cxnLst/>
            <a:rect l="l" t="t" r="r" b="b"/>
            <a:pathLst>
              <a:path w="5493058" h="4114800">
                <a:moveTo>
                  <a:pt x="0" y="0"/>
                </a:moveTo>
                <a:lnTo>
                  <a:pt x="5493059" y="0"/>
                </a:lnTo>
                <a:lnTo>
                  <a:pt x="54930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555D7A-8EDB-A832-93E2-C21C4B0445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9914" y="2294414"/>
            <a:ext cx="6179386" cy="726868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CE01A6-851E-7375-C20B-CEB3AE360B5A}"/>
              </a:ext>
            </a:extLst>
          </p:cNvPr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3A84A-7107-9030-28EF-525898DA1D2E}"/>
              </a:ext>
            </a:extLst>
          </p:cNvPr>
          <p:cNvSpPr txBox="1"/>
          <p:nvPr/>
        </p:nvSpPr>
        <p:spPr>
          <a:xfrm>
            <a:off x="1219200" y="647700"/>
            <a:ext cx="15087600" cy="93256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Need of study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company faced uneven sales and profit distribution across regions and products.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Uniform pricing and marketing were causing loss of revenue and excess stock.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There was a lack of data driven decision making in product placement and regional targeting.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study helps to identify regional consumer preferences using real sales data.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Insights from the analysis aim to reduce wastage, improve profitability, and enhance customer satisfaction.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3958320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27248F-3CD4-5CC9-5CB5-20FE0F479B04}"/>
              </a:ext>
            </a:extLst>
          </p:cNvPr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F76CCD-21E6-3471-B22B-D8A92D8AA850}"/>
              </a:ext>
            </a:extLst>
          </p:cNvPr>
          <p:cNvSpPr txBox="1"/>
          <p:nvPr/>
        </p:nvSpPr>
        <p:spPr>
          <a:xfrm>
            <a:off x="1143000" y="495300"/>
            <a:ext cx="13716000" cy="10987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METHODOLOGY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Beverage sales data from 2022–2023 across multiple U.S. regions and retailers.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Dataset contained 9,647 records and 14 columns, including Retailer, Region, Beverage Brand, Price per Unit, Total Sales, and Profit.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Used Python (Pandas, Matplotlib, Seaborn) to analyze trends, compute descriptive statistics, and create visualizations.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Studied relationships between Price per Unit, Units Sold, Total Sales, Operating Profit, and Margin.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The Data Profiling Report is given in the following link: https://drive.google.com/file/d/1bv0Oe1HtiDihf66eGv5AhOi4aVtnWHYw/view?usp=sharing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IN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82097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59744" y="2214698"/>
            <a:ext cx="6591578" cy="3086100"/>
            <a:chOff x="0" y="0"/>
            <a:chExt cx="173605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36053" cy="812800"/>
            </a:xfrm>
            <a:custGeom>
              <a:avLst/>
              <a:gdLst/>
              <a:ahLst/>
              <a:cxnLst/>
              <a:rect l="l" t="t" r="r" b="b"/>
              <a:pathLst>
                <a:path w="1736053" h="812800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3605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4131544" y="7969488"/>
            <a:ext cx="5132702" cy="5185216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V="1">
            <a:off x="14444220" y="8329798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flipV="1">
            <a:off x="14802690" y="868111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234164" y="2168728"/>
            <a:ext cx="6591578" cy="3086100"/>
            <a:chOff x="0" y="0"/>
            <a:chExt cx="1736053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36053" cy="812800"/>
            </a:xfrm>
            <a:custGeom>
              <a:avLst/>
              <a:gdLst/>
              <a:ahLst/>
              <a:cxnLst/>
              <a:rect l="l" t="t" r="r" b="b"/>
              <a:pathLst>
                <a:path w="1736053" h="812800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73605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99850" y="3031337"/>
            <a:ext cx="1543050" cy="1543050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D73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62639" y="3031337"/>
            <a:ext cx="1543050" cy="154305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D7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848211" y="6096219"/>
            <a:ext cx="6591578" cy="3086100"/>
            <a:chOff x="0" y="0"/>
            <a:chExt cx="1736053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736053" cy="812800"/>
            </a:xfrm>
            <a:custGeom>
              <a:avLst/>
              <a:gdLst/>
              <a:ahLst/>
              <a:cxnLst/>
              <a:rect l="l" t="t" r="r" b="b"/>
              <a:pathLst>
                <a:path w="1736053" h="812800">
                  <a:moveTo>
                    <a:pt x="58726" y="0"/>
                  </a:moveTo>
                  <a:lnTo>
                    <a:pt x="1677327" y="0"/>
                  </a:lnTo>
                  <a:cubicBezTo>
                    <a:pt x="1692902" y="0"/>
                    <a:pt x="1707840" y="6187"/>
                    <a:pt x="1718853" y="17200"/>
                  </a:cubicBezTo>
                  <a:cubicBezTo>
                    <a:pt x="1729866" y="28214"/>
                    <a:pt x="1736053" y="43151"/>
                    <a:pt x="1736053" y="58726"/>
                  </a:cubicBezTo>
                  <a:lnTo>
                    <a:pt x="1736053" y="754074"/>
                  </a:lnTo>
                  <a:cubicBezTo>
                    <a:pt x="1736053" y="786508"/>
                    <a:pt x="1709761" y="812800"/>
                    <a:pt x="1677327" y="812800"/>
                  </a:cubicBezTo>
                  <a:lnTo>
                    <a:pt x="58726" y="812800"/>
                  </a:lnTo>
                  <a:cubicBezTo>
                    <a:pt x="43151" y="812800"/>
                    <a:pt x="28214" y="806613"/>
                    <a:pt x="17200" y="795600"/>
                  </a:cubicBezTo>
                  <a:cubicBezTo>
                    <a:pt x="6187" y="784586"/>
                    <a:pt x="0" y="769649"/>
                    <a:pt x="0" y="754074"/>
                  </a:cubicBezTo>
                  <a:lnTo>
                    <a:pt x="0" y="58726"/>
                  </a:lnTo>
                  <a:cubicBezTo>
                    <a:pt x="0" y="43151"/>
                    <a:pt x="6187" y="28214"/>
                    <a:pt x="17200" y="17200"/>
                  </a:cubicBezTo>
                  <a:cubicBezTo>
                    <a:pt x="28214" y="6187"/>
                    <a:pt x="43151" y="0"/>
                    <a:pt x="58726" y="0"/>
                  </a:cubicBezTo>
                  <a:close/>
                </a:path>
              </a:pathLst>
            </a:custGeom>
            <a:solidFill>
              <a:srgbClr val="8AB7E2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736053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76686" y="6867744"/>
            <a:ext cx="1543050" cy="1543050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6D7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9857594" y="3224332"/>
            <a:ext cx="753140" cy="1157059"/>
          </a:xfrm>
          <a:custGeom>
            <a:avLst/>
            <a:gdLst/>
            <a:ahLst/>
            <a:cxnLst/>
            <a:rect l="l" t="t" r="r" b="b"/>
            <a:pathLst>
              <a:path w="753140" h="1157059">
                <a:moveTo>
                  <a:pt x="0" y="0"/>
                </a:moveTo>
                <a:lnTo>
                  <a:pt x="753141" y="0"/>
                </a:lnTo>
                <a:lnTo>
                  <a:pt x="753141" y="1157060"/>
                </a:lnTo>
                <a:lnTo>
                  <a:pt x="0" y="11570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205416" y="7147239"/>
            <a:ext cx="1285590" cy="984061"/>
          </a:xfrm>
          <a:custGeom>
            <a:avLst/>
            <a:gdLst/>
            <a:ahLst/>
            <a:cxnLst/>
            <a:rect l="l" t="t" r="r" b="b"/>
            <a:pathLst>
              <a:path w="1285590" h="984061">
                <a:moveTo>
                  <a:pt x="0" y="0"/>
                </a:moveTo>
                <a:lnTo>
                  <a:pt x="1285590" y="0"/>
                </a:lnTo>
                <a:lnTo>
                  <a:pt x="1285590" y="984060"/>
                </a:lnTo>
                <a:lnTo>
                  <a:pt x="0" y="9840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2903585" y="2422326"/>
            <a:ext cx="5828980" cy="2673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159"/>
              </a:lnSpc>
            </a:pPr>
            <a:r>
              <a:rPr lang="en-US" sz="3200" b="1" dirty="0"/>
              <a:t>Uneven Sales Across Regions:</a:t>
            </a:r>
            <a:r>
              <a:rPr lang="en-US" sz="3200" dirty="0"/>
              <a:t> Some beverages like Coca-Cola sell very well in a few regions, while others show poor sales, leading to wastage and reduced profits.</a:t>
            </a:r>
            <a:endParaRPr lang="en-US" sz="3199" dirty="0">
              <a:solidFill>
                <a:srgbClr val="FFFFFF"/>
              </a:solidFill>
              <a:latin typeface="DM Sans Italic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121973" y="1133475"/>
            <a:ext cx="1204405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dirty="0">
                <a:solidFill>
                  <a:srgbClr val="227C9D"/>
                </a:solidFill>
                <a:latin typeface="Kollektif Bold"/>
              </a:rPr>
              <a:t>CHALLENGES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66375" y="2214699"/>
            <a:ext cx="5557619" cy="27953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19"/>
              </a:lnSpc>
            </a:pPr>
            <a:r>
              <a:rPr lang="en-US" sz="3200" b="1" dirty="0"/>
              <a:t>Uniform Pricing and Promotions:</a:t>
            </a:r>
            <a:r>
              <a:rPr lang="en-US" sz="3200" dirty="0"/>
              <a:t> Applying the same pricing and marketing strategy across all regions ignores local preferences, income levels, and culture.</a:t>
            </a:r>
            <a:endParaRPr lang="en-US" sz="3200" dirty="0">
              <a:solidFill>
                <a:srgbClr val="FFFFFF"/>
              </a:solidFill>
              <a:latin typeface="DM Sans Italic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619736" y="6255494"/>
            <a:ext cx="5703551" cy="3359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19"/>
              </a:lnSpc>
            </a:pPr>
            <a:r>
              <a:rPr lang="en-US" sz="3200" b="1" dirty="0"/>
              <a:t>Mismatch of Products with Market Needs: </a:t>
            </a:r>
            <a:r>
              <a:rPr lang="en-US" sz="3200" dirty="0"/>
              <a:t>Popular drinks in one region may not sell well in another, requiring region-specific strategies.</a:t>
            </a:r>
          </a:p>
          <a:p>
            <a:pPr>
              <a:lnSpc>
                <a:spcPts val="4419"/>
              </a:lnSpc>
            </a:pPr>
            <a:r>
              <a:rPr lang="en-US" sz="3200" b="1" dirty="0"/>
              <a:t>   </a:t>
            </a:r>
            <a:endParaRPr lang="en-US" sz="3200" dirty="0">
              <a:solidFill>
                <a:srgbClr val="FFFFFF"/>
              </a:solidFill>
              <a:latin typeface="DM Sans Italics"/>
            </a:endParaRPr>
          </a:p>
        </p:txBody>
      </p:sp>
      <p:grpSp>
        <p:nvGrpSpPr>
          <p:cNvPr id="73" name="Group 21">
            <a:extLst>
              <a:ext uri="{FF2B5EF4-FFF2-40B4-BE49-F238E27FC236}">
                <a16:creationId xmlns:a16="http://schemas.microsoft.com/office/drawing/2014/main" id="{DDFC2533-1BB8-A92D-BCFE-630257DBFD9F}"/>
              </a:ext>
            </a:extLst>
          </p:cNvPr>
          <p:cNvGrpSpPr/>
          <p:nvPr/>
        </p:nvGrpSpPr>
        <p:grpSpPr>
          <a:xfrm rot="2700000">
            <a:off x="-2361110" y="-3991078"/>
            <a:ext cx="7415398" cy="3565095"/>
            <a:chOff x="0" y="0"/>
            <a:chExt cx="660400" cy="317500"/>
          </a:xfrm>
        </p:grpSpPr>
        <p:sp>
          <p:nvSpPr>
            <p:cNvPr id="74" name="Freeform 22">
              <a:extLst>
                <a:ext uri="{FF2B5EF4-FFF2-40B4-BE49-F238E27FC236}">
                  <a16:creationId xmlns:a16="http://schemas.microsoft.com/office/drawing/2014/main" id="{77EBB398-7B34-3A1E-E7D8-4BBD42DED5FA}"/>
                </a:ext>
              </a:extLst>
            </p:cNvPr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id="75" name="TextBox 23">
              <a:extLst>
                <a:ext uri="{FF2B5EF4-FFF2-40B4-BE49-F238E27FC236}">
                  <a16:creationId xmlns:a16="http://schemas.microsoft.com/office/drawing/2014/main" id="{586F6668-1359-C57F-F217-F5565D2B482D}"/>
                </a:ext>
              </a:extLst>
            </p:cNvPr>
            <p:cNvSpPr txBox="1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3"/>
                </a:lnSpc>
              </a:pPr>
              <a:endParaRPr/>
            </a:p>
          </p:txBody>
        </p:sp>
      </p:grpSp>
      <p:sp>
        <p:nvSpPr>
          <p:cNvPr id="76" name="AutoShape 24">
            <a:extLst>
              <a:ext uri="{FF2B5EF4-FFF2-40B4-BE49-F238E27FC236}">
                <a16:creationId xmlns:a16="http://schemas.microsoft.com/office/drawing/2014/main" id="{A6A95418-955C-C520-03FD-2D8E18515FF9}"/>
              </a:ext>
            </a:extLst>
          </p:cNvPr>
          <p:cNvSpPr/>
          <p:nvPr/>
        </p:nvSpPr>
        <p:spPr>
          <a:xfrm>
            <a:off x="-2823724" y="-3171529"/>
            <a:ext cx="5185216" cy="5132702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25">
            <a:extLst>
              <a:ext uri="{FF2B5EF4-FFF2-40B4-BE49-F238E27FC236}">
                <a16:creationId xmlns:a16="http://schemas.microsoft.com/office/drawing/2014/main" id="{7025E57E-69BB-3362-F7B3-CE1BB3865BE9}"/>
              </a:ext>
            </a:extLst>
          </p:cNvPr>
          <p:cNvSpPr/>
          <p:nvPr/>
        </p:nvSpPr>
        <p:spPr>
          <a:xfrm>
            <a:off x="-3037671" y="-2858852"/>
            <a:ext cx="5038853" cy="5038853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8" name="AutoShape 26">
            <a:extLst>
              <a:ext uri="{FF2B5EF4-FFF2-40B4-BE49-F238E27FC236}">
                <a16:creationId xmlns:a16="http://schemas.microsoft.com/office/drawing/2014/main" id="{F39C899F-AA4A-C580-9679-5902A3550890}"/>
              </a:ext>
            </a:extLst>
          </p:cNvPr>
          <p:cNvSpPr/>
          <p:nvPr/>
        </p:nvSpPr>
        <p:spPr>
          <a:xfrm>
            <a:off x="-3217272" y="-2500382"/>
            <a:ext cx="4867141" cy="4867141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" name="AutoShape 27">
            <a:extLst>
              <a:ext uri="{FF2B5EF4-FFF2-40B4-BE49-F238E27FC236}">
                <a16:creationId xmlns:a16="http://schemas.microsoft.com/office/drawing/2014/main" id="{DBF8D400-9357-B15F-683D-267591474963}"/>
              </a:ext>
            </a:extLst>
          </p:cNvPr>
          <p:cNvSpPr/>
          <p:nvPr/>
        </p:nvSpPr>
        <p:spPr>
          <a:xfrm>
            <a:off x="-3343927" y="-2114115"/>
            <a:ext cx="4690515" cy="4690515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28">
            <a:extLst>
              <a:ext uri="{FF2B5EF4-FFF2-40B4-BE49-F238E27FC236}">
                <a16:creationId xmlns:a16="http://schemas.microsoft.com/office/drawing/2014/main" id="{4D780ED2-D9F9-FF29-F070-09A63D3EE0C4}"/>
              </a:ext>
            </a:extLst>
          </p:cNvPr>
          <p:cNvSpPr/>
          <p:nvPr/>
        </p:nvSpPr>
        <p:spPr>
          <a:xfrm>
            <a:off x="-3487781" y="-1674438"/>
            <a:ext cx="4347674" cy="434767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1" name="AutoShape 29">
            <a:extLst>
              <a:ext uri="{FF2B5EF4-FFF2-40B4-BE49-F238E27FC236}">
                <a16:creationId xmlns:a16="http://schemas.microsoft.com/office/drawing/2014/main" id="{F51C2063-C3F7-84E2-ED7F-48A8F6930DA9}"/>
              </a:ext>
            </a:extLst>
          </p:cNvPr>
          <p:cNvSpPr/>
          <p:nvPr/>
        </p:nvSpPr>
        <p:spPr>
          <a:xfrm>
            <a:off x="-3608601" y="-1230714"/>
            <a:ext cx="3963599" cy="3985594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30">
            <a:extLst>
              <a:ext uri="{FF2B5EF4-FFF2-40B4-BE49-F238E27FC236}">
                <a16:creationId xmlns:a16="http://schemas.microsoft.com/office/drawing/2014/main" id="{9C44FB8A-3FE6-2A5F-E18D-DFB40068083F}"/>
              </a:ext>
            </a:extLst>
          </p:cNvPr>
          <p:cNvSpPr/>
          <p:nvPr/>
        </p:nvSpPr>
        <p:spPr>
          <a:xfrm>
            <a:off x="-3582833" y="-669081"/>
            <a:ext cx="3377485" cy="3360058"/>
          </a:xfrm>
          <a:prstGeom prst="line">
            <a:avLst/>
          </a:prstGeom>
          <a:ln w="28575" cap="flat">
            <a:solidFill>
              <a:srgbClr val="8CA9A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257550" y="-3257550"/>
            <a:ext cx="117729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523875"/>
            <a:ext cx="1204405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>
                <a:solidFill>
                  <a:schemeClr val="accent1"/>
                </a:solidFill>
              </a:rPr>
              <a:t>Uneven Sales Across Regions</a:t>
            </a:r>
            <a:endParaRPr lang="en-US" sz="6000" dirty="0">
              <a:solidFill>
                <a:schemeClr val="accent1"/>
              </a:solidFill>
              <a:latin typeface="Kollektif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F4734-C458-A785-8C26-AE2714F12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1293316"/>
            <a:ext cx="8372474" cy="72791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FD5AD44-9EC6-B666-C91C-BB2361D52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485900"/>
            <a:ext cx="6972300" cy="69342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76275"/>
            <a:ext cx="12044053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>
                <a:solidFill>
                  <a:schemeClr val="accent1"/>
                </a:solidFill>
              </a:rPr>
              <a:t>Uniform Pricing and Promotions</a:t>
            </a:r>
            <a:endParaRPr lang="en-US" sz="6000" dirty="0">
              <a:solidFill>
                <a:schemeClr val="accent1"/>
              </a:solidFill>
              <a:latin typeface="Kollektif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0CC9E0-3436-7E01-8E8E-C52B5445C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66899"/>
            <a:ext cx="5677150" cy="7743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18A123-621C-21CD-C587-C06C3D056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874520"/>
            <a:ext cx="5848226" cy="77438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8BC81D-49CF-9F1F-C56F-24E464AD0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40991" y="1874520"/>
            <a:ext cx="4289809" cy="39547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AF499C9-BBB4-BE6B-A4B3-0102AE0113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752" y="6387291"/>
            <a:ext cx="4305048" cy="323105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15740" y="-399288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676275"/>
            <a:ext cx="15582900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>
                <a:solidFill>
                  <a:schemeClr val="accent1"/>
                </a:solidFill>
              </a:rPr>
              <a:t>Mismatch of Products with Market Needs</a:t>
            </a:r>
            <a:endParaRPr lang="en-US" sz="6000" dirty="0">
              <a:solidFill>
                <a:schemeClr val="accent1"/>
              </a:solidFill>
              <a:latin typeface="Kollektif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118F57-B4BE-0B53-2D4E-C0BDDC979C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2324100"/>
            <a:ext cx="8153400" cy="5410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58D9D6-9D48-CCFE-9960-29DF4C9EB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943100"/>
            <a:ext cx="7391400" cy="6988493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676275"/>
            <a:ext cx="13769598" cy="914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solidFill>
                  <a:srgbClr val="227C9D"/>
                </a:solidFill>
                <a:latin typeface="Kollektif Bold"/>
              </a:rPr>
              <a:t>FINDINGS</a:t>
            </a:r>
          </a:p>
          <a:p>
            <a:pPr marL="857250" indent="-857250" algn="l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Coca-Cola recorded the highest sales and profit, while Fanta and Powerade performed the lowest.</a:t>
            </a:r>
          </a:p>
          <a:p>
            <a:pPr marL="857250" indent="-857250" algn="l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3200" dirty="0" err="1"/>
              <a:t>FizzyCo</a:t>
            </a:r>
            <a:r>
              <a:rPr lang="en-US" sz="3200" dirty="0"/>
              <a:t> achieved the highest Operating Margin (0.445), whereas Walmart had the lowest (0.409).</a:t>
            </a:r>
          </a:p>
          <a:p>
            <a:pPr marL="857250" indent="-857250" algn="l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South region showed the highest average margin, while West recorded the lowest sales performance.</a:t>
            </a:r>
          </a:p>
          <a:p>
            <a:pPr marL="857250" indent="-857250" algn="l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Games-Howell test confirmed significant differences in profitability across brands, regions, and retailers, proving uneven market behavior.</a:t>
            </a:r>
          </a:p>
          <a:p>
            <a:pPr marL="857250" indent="-857250" algn="l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Correlation results: Units Sold, Price per Unit, and Total Sales are inversely proportional to Operating Margin, but directly proportional to Operating Profit.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71867" t="-3631" r="-74156" b="-274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76275"/>
            <a:ext cx="13769598" cy="7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6000" dirty="0">
                <a:solidFill>
                  <a:srgbClr val="227C9D"/>
                </a:solidFill>
                <a:latin typeface="Kollektif Bold"/>
              </a:rPr>
              <a:t>RECOMMENDATIONS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504950"/>
            <a:ext cx="16723427" cy="6288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9"/>
              </a:lnSpc>
            </a:pPr>
            <a:endParaRPr lang="en-IN" dirty="0"/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Decrease price per unit slightly to improve profit and operating margin.</a:t>
            </a:r>
          </a:p>
          <a:p>
            <a:pPr algn="l">
              <a:lnSpc>
                <a:spcPts val="3519"/>
              </a:lnSpc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Apply region-based pricing and promotions instead of uniform strategies.</a:t>
            </a: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Focus on Southeast region using local offers and targeted marketing.</a:t>
            </a: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Improve Walmart’s performance by optimizing pricing and margin strategy.</a:t>
            </a: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Strengthen Midwest and Southeast regions with better promotion and distribution.</a:t>
            </a: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Promote Fanta and Powerade through advertising to boost moderate sales.</a:t>
            </a: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endParaRPr lang="en-US" sz="3199" dirty="0">
              <a:solidFill>
                <a:srgbClr val="545454"/>
              </a:solidFill>
              <a:latin typeface="DM Sans"/>
            </a:endParaRPr>
          </a:p>
          <a:p>
            <a:pPr marL="457200" indent="-457200" algn="l">
              <a:lnSpc>
                <a:spcPts val="3519"/>
              </a:lnSpc>
              <a:buFont typeface="Arial" panose="020B0604020202020204" pitchFamily="34" charset="0"/>
              <a:buChar char="•"/>
            </a:pPr>
            <a:r>
              <a:rPr lang="en-US" sz="3199" dirty="0">
                <a:solidFill>
                  <a:srgbClr val="545454"/>
                </a:solidFill>
                <a:latin typeface="DM Sans"/>
              </a:rPr>
              <a:t>Customize retailer specific strategies for </a:t>
            </a:r>
            <a:r>
              <a:rPr lang="en-US" sz="3199" dirty="0" err="1">
                <a:solidFill>
                  <a:srgbClr val="545454"/>
                </a:solidFill>
                <a:latin typeface="DM Sans"/>
              </a:rPr>
              <a:t>BevCo</a:t>
            </a:r>
            <a:r>
              <a:rPr lang="en-US" sz="3199" dirty="0">
                <a:solidFill>
                  <a:srgbClr val="545454"/>
                </a:solidFill>
                <a:latin typeface="DM Sans"/>
              </a:rPr>
              <a:t>, Target, and Walmart.  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568</Words>
  <Application>Microsoft Office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DM Sans</vt:lpstr>
      <vt:lpstr>DM Sans Medium</vt:lpstr>
      <vt:lpstr>Kollektif Bold</vt:lpstr>
      <vt:lpstr>DM Sans Italics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BDM Project Viva</dc:title>
  <dc:creator>Dr.srikanth v</dc:creator>
  <cp:lastModifiedBy>Srikanth</cp:lastModifiedBy>
  <cp:revision>16</cp:revision>
  <dcterms:created xsi:type="dcterms:W3CDTF">2006-08-16T00:00:00Z</dcterms:created>
  <dcterms:modified xsi:type="dcterms:W3CDTF">2025-10-24T14:02:01Z</dcterms:modified>
  <dc:identifier>DAGFlBx3AZk</dc:identifier>
</cp:coreProperties>
</file>